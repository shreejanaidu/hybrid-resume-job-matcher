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6" r:id="rId13"/>
    <p:sldId id="265" r:id="rId14"/>
  </p:sldIdLst>
  <p:sldSz cx="14630400" cy="8229600"/>
  <p:notesSz cx="8229600" cy="14630400"/>
  <p:embeddedFontLst>
    <p:embeddedFont>
      <p:font typeface="Noto Sans TC" panose="020B0604020202020204" charset="-128"/>
      <p:regular r:id="rId16"/>
    </p:embeddedFont>
    <p:embeddedFont>
      <p:font typeface="Sora Medium" panose="020B0604020202020204" charset="0"/>
      <p:regular r:id="rId1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77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67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2C1D-1CE9-75AF-688D-23180429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9B449-04EB-DB89-4E0F-BDE11B2A5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BA682-2651-BF9E-FAF8-A4CA8EF54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A60B1-6601-D994-D0F4-E69C011EC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62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9989-BD09-88A9-D1EC-7D1BB9CA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B60A5-AE40-88E2-E93E-14F27D68A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32602-9347-1AAA-D1D5-12A8B4DFB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5C71C-372F-094D-4C68-8ED535CB2D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51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www.youtube.com/watch?v=y_6_A5GtRrA" TargetMode="Externa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7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7.jp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24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4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hyperlink" Target="https://youtu.be/WF9D-Tiwn_Y" TargetMode="External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LLM-Powered Job &amp; Resume Matching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Harnessing Advanced AI to Revolutionize Talent Acquisition</a:t>
            </a:r>
            <a:endParaRPr lang="en-US" sz="1750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07755C0-E76B-AEF0-8F2F-CB6F158B4556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53A6712-9292-A97F-6897-65298FEF2571}"/>
              </a:ext>
            </a:extLst>
          </p:cNvPr>
          <p:cNvSpPr/>
          <p:nvPr/>
        </p:nvSpPr>
        <p:spPr>
          <a:xfrm>
            <a:off x="12379014" y="7816653"/>
            <a:ext cx="21538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Sébastien Levesque</a:t>
            </a:r>
            <a:endParaRPr lang="en-US" sz="1750" b="1" dirty="0"/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F6CB7D12-71AD-B61E-C6C0-7EB81231BA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  <p:sp>
        <p:nvSpPr>
          <p:cNvPr id="24" name="Text 1">
            <a:extLst>
              <a:ext uri="{FF2B5EF4-FFF2-40B4-BE49-F238E27FC236}">
                <a16:creationId xmlns:a16="http://schemas.microsoft.com/office/drawing/2014/main" id="{69ED7A93-634F-0027-082A-10272BB82B9A}"/>
              </a:ext>
            </a:extLst>
          </p:cNvPr>
          <p:cNvSpPr/>
          <p:nvPr/>
        </p:nvSpPr>
        <p:spPr>
          <a:xfrm>
            <a:off x="5606626" y="7825135"/>
            <a:ext cx="63359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chemeClr val="bg1"/>
                </a:solidFill>
              </a:rPr>
              <a:t>Live presentation of the </a:t>
            </a:r>
            <a:r>
              <a:rPr lang="en-US" sz="1750" dirty="0" err="1">
                <a:solidFill>
                  <a:schemeClr val="bg1"/>
                </a:solidFill>
              </a:rPr>
              <a:t>powerpoint</a:t>
            </a:r>
            <a:r>
              <a:rPr lang="en-US" sz="1750" dirty="0">
                <a:solidFill>
                  <a:schemeClr val="bg1"/>
                </a:solidFill>
              </a:rPr>
              <a:t>: </a:t>
            </a:r>
            <a:r>
              <a:rPr lang="en-US" sz="1750" dirty="0">
                <a:solidFill>
                  <a:schemeClr val="bg1"/>
                </a:solidFill>
                <a:hlinkClick r:id="rId7"/>
              </a:rPr>
              <a:t>https://www.youtube.com/watch?v=y_6_A5GtRrA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411"/>
    </mc:Choice>
    <mc:Fallback xmlns="">
      <p:transition spd="slow" advTm="234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379" y="1095970"/>
            <a:ext cx="7447240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Hiring Challenge Today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9379" y="2407325"/>
            <a:ext cx="3715583" cy="2605445"/>
          </a:xfrm>
          <a:prstGeom prst="roundRect">
            <a:avLst>
              <a:gd name="adj" fmla="val 5615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79" y="2376845"/>
            <a:ext cx="3715583" cy="1219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5940" y="2086213"/>
            <a:ext cx="642342" cy="6423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478584" y="2246828"/>
            <a:ext cx="25693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993934" y="2942630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Resume Overload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993934" y="3405664"/>
            <a:ext cx="3226475" cy="102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Recruiters face thousands of resumes per role, often in diverse, unstructured formats.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4679037" y="2407325"/>
            <a:ext cx="3715583" cy="2605445"/>
          </a:xfrm>
          <a:prstGeom prst="roundRect">
            <a:avLst>
              <a:gd name="adj" fmla="val 5615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037" y="2376845"/>
            <a:ext cx="3715583" cy="12192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598" y="2086213"/>
            <a:ext cx="642342" cy="64234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08241" y="2246828"/>
            <a:ext cx="25693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4923592" y="2942630"/>
            <a:ext cx="3226475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Brittle Keyword Matching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4923592" y="3740229"/>
            <a:ext cx="3226475" cy="102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Traditional ATS rely on keyword matching, missing nuanced candidate fit.</a:t>
            </a:r>
            <a:endParaRPr lang="en-US" sz="1650" dirty="0"/>
          </a:p>
        </p:txBody>
      </p:sp>
      <p:sp>
        <p:nvSpPr>
          <p:cNvPr id="16" name="Shape 9"/>
          <p:cNvSpPr/>
          <p:nvPr/>
        </p:nvSpPr>
        <p:spPr>
          <a:xfrm>
            <a:off x="749379" y="5547955"/>
            <a:ext cx="7645241" cy="1585555"/>
          </a:xfrm>
          <a:prstGeom prst="roundRect">
            <a:avLst>
              <a:gd name="adj" fmla="val 9227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79" y="5517475"/>
            <a:ext cx="7645241" cy="12192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0829" y="5226844"/>
            <a:ext cx="642342" cy="64234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443472" y="5387459"/>
            <a:ext cx="25693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1"/>
          <p:cNvSpPr/>
          <p:nvPr/>
        </p:nvSpPr>
        <p:spPr>
          <a:xfrm>
            <a:off x="993934" y="6083260"/>
            <a:ext cx="3353872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Slow &amp; Biased Screening</a:t>
            </a:r>
            <a:endParaRPr lang="en-US" sz="2100" dirty="0"/>
          </a:p>
        </p:txBody>
      </p:sp>
      <p:sp>
        <p:nvSpPr>
          <p:cNvPr id="21" name="Text 12"/>
          <p:cNvSpPr/>
          <p:nvPr/>
        </p:nvSpPr>
        <p:spPr>
          <a:xfrm>
            <a:off x="993934" y="6546294"/>
            <a:ext cx="7156132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Manual screening is slow, inconsistent, and prone to unconscious bias.</a:t>
            </a:r>
            <a:endParaRPr lang="en-US" sz="1650" dirty="0"/>
          </a:p>
        </p:txBody>
      </p:sp>
      <p:pic>
        <p:nvPicPr>
          <p:cNvPr id="35" name="Audio 34">
            <a:hlinkClick r:id="" action="ppaction://media"/>
            <a:extLst>
              <a:ext uri="{FF2B5EF4-FFF2-40B4-BE49-F238E27FC236}">
                <a16:creationId xmlns:a16="http://schemas.microsoft.com/office/drawing/2014/main" id="{DFAA258F-4338-9C1B-2A44-D77A82AA28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86"/>
    </mc:Choice>
    <mc:Fallback xmlns="">
      <p:transition spd="slow" advTm="576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859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Our Solution: Intelligent Resume &amp; Job Matching with LLMs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1038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Leverages Large Language Models to understand context, skills, and experience beyond keywords.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1548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Combined with vector embedding to study semantic similarity between text.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20590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Automates parsing, normalization, ranking, and provides clear reasoning explanations.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2569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Designed to reduce bias and significantly improve candidate-job fit accuracy.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096" y="3161467"/>
            <a:ext cx="4885015" cy="3664387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94A6421-08E4-D715-7F46-F0EB67A6F2B5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E0890A45-EF9F-263D-DA91-495399A22A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24"/>
    </mc:Choice>
    <mc:Fallback xmlns="">
      <p:transition spd="slow" advTm="423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137" y="557213"/>
            <a:ext cx="7883128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System Architecture Overview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37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22765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Ingestion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122765" y="2236113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Pipelines for PDFs, DOCX, and plain text resumes and job descriptions.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137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22765" y="3013829"/>
            <a:ext cx="3161586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LLM Parsing &amp; Normalization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122765" y="3451860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extracts structured data: skills and required skills, experience, education, etc.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137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22765" y="4229576"/>
            <a:ext cx="2779633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Semantic Embedding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122765" y="4667607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Nomic or BGE embeddings.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137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22765" y="5445323"/>
            <a:ext cx="2569845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Scoring &amp; Ranking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122765" y="5883354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Euclidean distance or cosine similarity to rank matched elements.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137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122765" y="6661071"/>
            <a:ext cx="295155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Reasoning Explanation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122765" y="7099102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Natural-language explanations highlight key strengths and gaps.</a:t>
            </a:r>
            <a:endParaRPr lang="en-US" sz="1550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AE96AEF-AE07-5CAB-8929-47788F01B98E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C51D0F8F-1EE1-5E4B-0D50-092B5A9473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81"/>
    </mc:Choice>
    <mc:Fallback xmlns="">
      <p:transition spd="slow" advTm="492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8125"/>
            <a:ext cx="86135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Design Choices &amp; Innovations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483" y="2720093"/>
            <a:ext cx="2429947" cy="15018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7484" y="4565095"/>
            <a:ext cx="2429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Multi-Agent Approach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07484" y="5616944"/>
            <a:ext cx="24299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Specialized LLM agents handle normalization, matching, and explanation tasks.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9560" y="2720092"/>
            <a:ext cx="2429947" cy="15018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59560" y="4583731"/>
            <a:ext cx="2429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Output Verification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59559" y="5654218"/>
            <a:ext cx="24299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Robust verification and normalization mechanisms mitigate LLM hallucinations.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11636" y="4583731"/>
            <a:ext cx="2429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Multiple Embeddings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11634" y="5654216"/>
            <a:ext cx="260535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Utilizing different embeddings (Nomic, BGE) for comprehensive comparison and accuracy.</a:t>
            </a:r>
            <a:endParaRPr lang="en-US" sz="1750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6A57674-E6C1-E873-9BF5-8DFA1FCFA90A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 descr="De nombreux yeux globuleux sur arrière-plan noir">
            <a:extLst>
              <a:ext uri="{FF2B5EF4-FFF2-40B4-BE49-F238E27FC236}">
                <a16:creationId xmlns:a16="http://schemas.microsoft.com/office/drawing/2014/main" id="{82C0BB62-2695-DFE1-50E7-0F9C30933C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637" y="2720094"/>
            <a:ext cx="2429947" cy="1501812"/>
          </a:xfrm>
          <a:prstGeom prst="roundRect">
            <a:avLst>
              <a:gd name="adj" fmla="val 2894"/>
            </a:avLst>
          </a:prstGeom>
          <a:ln>
            <a:solidFill>
              <a:schemeClr val="bg1"/>
            </a:solidFill>
          </a:ln>
        </p:spPr>
      </p:pic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1DE76B89-F3FD-E361-D72E-D26F6D5A34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74"/>
    </mc:Choice>
    <mc:Fallback xmlns="">
      <p:transition spd="slow" advTm="512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3638"/>
            <a:ext cx="7453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Ollama with Llama 3?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6652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State-of-the-Art Performance: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Llama 3 offers unparalleled language understanding with open weights for deep customization.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04655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Local Deployment &amp; Privacy: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Ollama ensures seamless local deployment, guaranteeing data privacy and minimal latency.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09755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Customization &amp; Tuning: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Supports fine-tuning and prompt engineering for better tailoring.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14856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Cost-Effectiveness: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more economical solution compared to exclusive cloud-only LLM providers, while offering scalable inference.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249" y="2787729"/>
            <a:ext cx="5564862" cy="370296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35E42E2-8604-84E0-876B-2347B327428E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A3017F4A-5879-6DEF-9470-A23CEBEA53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34"/>
    </mc:Choice>
    <mc:Fallback xmlns="">
      <p:transition spd="slow" advTm="343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980" y="1020425"/>
            <a:ext cx="5796796" cy="140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Evaluation of Ranking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&amp; Explanation Quality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87205" y="2498908"/>
            <a:ext cx="7556421" cy="297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Goal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 : Measuring whether the LLM-driven matching ranks items in a human-like way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Methodology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 (Human VS Machine) :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Select a resume -&gt; Manually classify 5 jobs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Select a job -&gt; Manually classify 5 resumes</a:t>
            </a: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E0D6DE"/>
              </a:solidFill>
              <a:latin typeface="Noto Sans TC" pitchFamily="34" charset="0"/>
              <a:ea typeface="Noto Sans TC" pitchFamily="34" charset="-122"/>
            </a:endParaRP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Metrics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 :</a:t>
            </a:r>
            <a:endParaRPr lang="en-US" sz="1750" dirty="0"/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F744E256-86DF-57DB-D3AC-6399F143F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843901"/>
              </p:ext>
            </p:extLst>
          </p:nvPr>
        </p:nvGraphicFramePr>
        <p:xfrm>
          <a:off x="428873" y="5549621"/>
          <a:ext cx="8265184" cy="25060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29765">
                  <a:extLst>
                    <a:ext uri="{9D8B030D-6E8A-4147-A177-3AD203B41FA5}">
                      <a16:colId xmlns:a16="http://schemas.microsoft.com/office/drawing/2014/main" val="20277351"/>
                    </a:ext>
                  </a:extLst>
                </a:gridCol>
                <a:gridCol w="2380722">
                  <a:extLst>
                    <a:ext uri="{9D8B030D-6E8A-4147-A177-3AD203B41FA5}">
                      <a16:colId xmlns:a16="http://schemas.microsoft.com/office/drawing/2014/main" val="1872187426"/>
                    </a:ext>
                  </a:extLst>
                </a:gridCol>
                <a:gridCol w="3654697">
                  <a:extLst>
                    <a:ext uri="{9D8B030D-6E8A-4147-A177-3AD203B41FA5}">
                      <a16:colId xmlns:a16="http://schemas.microsoft.com/office/drawing/2014/main" val="179456164"/>
                    </a:ext>
                  </a:extLst>
                </a:gridCol>
              </a:tblGrid>
              <a:tr h="7958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Spearman </a:t>
                      </a:r>
                      <a:r>
                        <a:rPr lang="fr-FR" dirty="0" err="1"/>
                        <a:t>correlation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Explanation</a:t>
                      </a:r>
                      <a:r>
                        <a:rPr lang="fr-FR" dirty="0"/>
                        <a:t> </a:t>
                      </a:r>
                    </a:p>
                    <a:p>
                      <a:pPr algn="ctr"/>
                      <a:r>
                        <a:rPr lang="fr-FR" dirty="0" err="1"/>
                        <a:t>accuracy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(qualitative)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708901"/>
                  </a:ext>
                </a:extLst>
              </a:tr>
              <a:tr h="795823">
                <a:tc>
                  <a:txBody>
                    <a:bodyPr/>
                    <a:lstStyle/>
                    <a:p>
                      <a:pPr algn="ctr"/>
                      <a:r>
                        <a:rPr lang="fr-FR" b="1" dirty="0" err="1"/>
                        <a:t>Resume</a:t>
                      </a:r>
                      <a:r>
                        <a:rPr lang="fr-FR" b="1" dirty="0"/>
                        <a:t> -&gt; 5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Few hallucinations, but </a:t>
                      </a:r>
                      <a:r>
                        <a:rPr lang="fr-FR" dirty="0" err="1"/>
                        <a:t>related</a:t>
                      </a:r>
                      <a:r>
                        <a:rPr lang="fr-FR" dirty="0"/>
                        <a:t> to the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73726"/>
                  </a:ext>
                </a:extLst>
              </a:tr>
              <a:tr h="795823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Job -&gt; 5 </a:t>
                      </a:r>
                      <a:r>
                        <a:rPr lang="fr-FR" b="1" dirty="0" err="1"/>
                        <a:t>Resumes</a:t>
                      </a:r>
                      <a:endParaRPr lang="fr-F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Obvious</a:t>
                      </a:r>
                      <a:r>
                        <a:rPr lang="fr-FR" dirty="0"/>
                        <a:t> hallucinations of </a:t>
                      </a:r>
                      <a:r>
                        <a:rPr lang="fr-FR" dirty="0" err="1"/>
                        <a:t>skillls</a:t>
                      </a:r>
                      <a:r>
                        <a:rPr lang="fr-FR" dirty="0"/>
                        <a:t> to match </a:t>
                      </a:r>
                      <a:r>
                        <a:rPr lang="fr-FR" dirty="0" err="1"/>
                        <a:t>requirements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017434"/>
                  </a:ext>
                </a:extLst>
              </a:tr>
            </a:tbl>
          </a:graphicData>
        </a:graphic>
      </p:graphicFrame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2CFF91F4-BBE2-FE95-827E-48FE8F7F11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822"/>
    </mc:Choice>
    <mc:Fallback xmlns="">
      <p:transition spd="slow" advTm="908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7C7B9-8653-6F54-34F4-688ECBE5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2A5B340-32F6-B2C3-702E-155C3F73D022}"/>
              </a:ext>
            </a:extLst>
          </p:cNvPr>
          <p:cNvSpPr/>
          <p:nvPr/>
        </p:nvSpPr>
        <p:spPr>
          <a:xfrm>
            <a:off x="789980" y="1020425"/>
            <a:ext cx="7180540" cy="677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Processing time per step</a:t>
            </a:r>
            <a:endParaRPr lang="en-US" sz="4450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234E2F2-7011-7372-8F00-644E73A7A3D7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8D25CFB2-13A0-94FC-982A-80D9F1FB4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20" y="2011681"/>
            <a:ext cx="9938980" cy="5741098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22555F1F-8F85-9E99-5211-8D73B1E42892}"/>
              </a:ext>
            </a:extLst>
          </p:cNvPr>
          <p:cNvSpPr/>
          <p:nvPr/>
        </p:nvSpPr>
        <p:spPr>
          <a:xfrm>
            <a:off x="10485120" y="1906671"/>
            <a:ext cx="4047744" cy="584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Dominated by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: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Embedding loading, mostly due to the amount of files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LLM explanation, because LLM calls are obviously more costly</a:t>
            </a: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E0D6DE"/>
              </a:solidFill>
              <a:latin typeface="Noto Sans TC" pitchFamily="34" charset="0"/>
              <a:ea typeface="Noto Sans TC" pitchFamily="34" charset="-122"/>
            </a:endParaRP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File format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: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mainly affects ingestion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may also be confused with file size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has a minimal impact on latency</a:t>
            </a:r>
          </a:p>
          <a:p>
            <a:pPr algn="l">
              <a:lnSpc>
                <a:spcPts val="2850"/>
              </a:lnSpc>
            </a:pP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7CE79110-A2DA-08FA-D692-69F29D1228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8734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955"/>
    </mc:Choice>
    <mc:Fallback xmlns="">
      <p:transition spd="slow" advTm="739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9786-2B6E-39F2-6BA6-ACF46E2D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954802E-6E50-F0EC-9613-7B4EFDFFCB04}"/>
              </a:ext>
            </a:extLst>
          </p:cNvPr>
          <p:cNvSpPr/>
          <p:nvPr/>
        </p:nvSpPr>
        <p:spPr>
          <a:xfrm>
            <a:off x="789980" y="1020425"/>
            <a:ext cx="7180540" cy="677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Cold VS Hot starts</a:t>
            </a:r>
            <a:endParaRPr lang="en-US" sz="4450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3AFC442-DF5A-341A-2F34-8B94C66A379C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AutoShape 2" descr="Latency per query">
            <a:extLst>
              <a:ext uri="{FF2B5EF4-FFF2-40B4-BE49-F238E27FC236}">
                <a16:creationId xmlns:a16="http://schemas.microsoft.com/office/drawing/2014/main" id="{DA258F50-EDB2-81CB-7F70-98B08EDDE4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731520"/>
            <a:ext cx="3535680" cy="353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" name="Image 4" descr="Une image contenant texte, lign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F20612D-629B-7F30-129F-4381F79F9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490" y="2195636"/>
            <a:ext cx="8974404" cy="5573458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675B3FCF-685E-A20A-3111-1E444F5E13A8}"/>
              </a:ext>
            </a:extLst>
          </p:cNvPr>
          <p:cNvSpPr/>
          <p:nvPr/>
        </p:nvSpPr>
        <p:spPr>
          <a:xfrm>
            <a:off x="332506" y="2059311"/>
            <a:ext cx="4047744" cy="584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chemeClr val="bg1"/>
                </a:solidFill>
                <a:latin typeface="Noto Sans TC" panose="020B0604020202020204" charset="-128"/>
                <a:ea typeface="Noto Sans TC" panose="020B0604020202020204" charset="-128"/>
              </a:rPr>
              <a:t>First query incurs a </a:t>
            </a:r>
            <a:r>
              <a:rPr lang="en-US" sz="1750" b="1" dirty="0">
                <a:solidFill>
                  <a:schemeClr val="bg1"/>
                </a:solidFill>
                <a:latin typeface="Noto Sans TC" panose="020B0604020202020204" charset="-128"/>
                <a:ea typeface="Noto Sans TC" panose="020B0604020202020204" charset="-128"/>
              </a:rPr>
              <a:t>cold start penalty</a:t>
            </a:r>
            <a:r>
              <a:rPr lang="en-US" sz="1750" dirty="0">
                <a:solidFill>
                  <a:schemeClr val="bg1"/>
                </a:solidFill>
                <a:latin typeface="Noto Sans TC" panose="020B0604020202020204" charset="-128"/>
                <a:ea typeface="Noto Sans TC" panose="020B0604020202020204" charset="-128"/>
              </a:rPr>
              <a:t> (+ 4s), driven by model/embedding initialization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chemeClr val="bg1"/>
                </a:solidFill>
                <a:latin typeface="Noto Sans TC" panose="020B0604020202020204" charset="-128"/>
                <a:ea typeface="Noto Sans TC" panose="020B0604020202020204" charset="-128"/>
              </a:rPr>
              <a:t>While subsequent queries run at a stable hot latency (~52-53s)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>
              <a:solidFill>
                <a:schemeClr val="bg1"/>
              </a:solidFill>
              <a:latin typeface="Noto Sans TC" panose="020B0604020202020204" charset="-128"/>
              <a:ea typeface="Noto Sans TC" panose="020B0604020202020204" charset="-128"/>
            </a:endParaRP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E0D6DE"/>
              </a:solidFill>
              <a:latin typeface="Noto Sans TC" panose="020B0604020202020204" charset="-128"/>
              <a:ea typeface="Noto Sans TC" panose="020B0604020202020204" charset="-128"/>
            </a:endParaRP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E0D6DE"/>
                </a:solidFill>
                <a:latin typeface="Noto Sans TC" panose="020B0604020202020204" charset="-128"/>
                <a:ea typeface="Noto Sans TC" panose="020B0604020202020204" charset="-128"/>
              </a:rPr>
              <a:t>Conclusion</a:t>
            </a:r>
            <a:r>
              <a:rPr lang="en-US" sz="1750" dirty="0">
                <a:solidFill>
                  <a:srgbClr val="E0D6DE"/>
                </a:solidFill>
                <a:latin typeface="Noto Sans TC" panose="020B0604020202020204" charset="-128"/>
                <a:ea typeface="Noto Sans TC" panose="020B0604020202020204" charset="-128"/>
              </a:rPr>
              <a:t>: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anose="020B0604020202020204" charset="-128"/>
                <a:ea typeface="Noto Sans TC" panose="020B0604020202020204" charset="-128"/>
              </a:rPr>
              <a:t>Cold start affects </a:t>
            </a:r>
            <a:r>
              <a:rPr lang="en-US" sz="1750" b="1" dirty="0">
                <a:solidFill>
                  <a:srgbClr val="E0D6DE"/>
                </a:solidFill>
                <a:latin typeface="Noto Sans TC" panose="020B0604020202020204" charset="-128"/>
                <a:ea typeface="Noto Sans TC" panose="020B0604020202020204" charset="-128"/>
              </a:rPr>
              <a:t>interactive workloads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anose="020B0604020202020204" charset="-128"/>
                <a:ea typeface="Noto Sans TC" panose="020B0604020202020204" charset="-128"/>
              </a:rPr>
              <a:t>But it is largely negligible for </a:t>
            </a:r>
            <a:r>
              <a:rPr lang="en-US" sz="1750" b="1" dirty="0">
                <a:solidFill>
                  <a:srgbClr val="E0D6DE"/>
                </a:solidFill>
                <a:latin typeface="Noto Sans TC" panose="020B0604020202020204" charset="-128"/>
                <a:ea typeface="Noto Sans TC" panose="020B0604020202020204" charset="-128"/>
              </a:rPr>
              <a:t>batch queries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7697560B-6039-7AEE-1C07-FD3161E929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6133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566"/>
    </mc:Choice>
    <mc:Fallback xmlns="">
      <p:transition spd="slow" advTm="665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24437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2165" y="3145393"/>
            <a:ext cx="6108502" cy="610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Challenges Encountered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1132165" y="4049554"/>
            <a:ext cx="6085165" cy="1485067"/>
          </a:xfrm>
          <a:prstGeom prst="roundRect">
            <a:avLst>
              <a:gd name="adj" fmla="val 738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305" y="4049554"/>
            <a:ext cx="91440" cy="14850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9106" y="4267914"/>
            <a:ext cx="244399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Quality VS Quantity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419106" y="4690705"/>
            <a:ext cx="5579864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Finding a realistic dataset that combined volume and quality of the data was complicated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412831" y="4049554"/>
            <a:ext cx="6085284" cy="1485067"/>
          </a:xfrm>
          <a:prstGeom prst="roundRect">
            <a:avLst>
              <a:gd name="adj" fmla="val 738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9971" y="4049554"/>
            <a:ext cx="91440" cy="14850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99772" y="4267914"/>
            <a:ext cx="335994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Continuous Prompt Tuning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699772" y="4690705"/>
            <a:ext cx="5579983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Finding the optimal prompt configurations required extensive and continuous iteration to achieve desired results.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132165" y="5730121"/>
            <a:ext cx="6085165" cy="1797844"/>
          </a:xfrm>
          <a:prstGeom prst="roundRect">
            <a:avLst>
              <a:gd name="adj" fmla="val 6103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305" y="5730121"/>
            <a:ext cx="91440" cy="17978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9106" y="5948482"/>
            <a:ext cx="327957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LLM Output Normalization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419106" y="6371273"/>
            <a:ext cx="5579864" cy="938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Ensuring consistently normalized output from the LLM via prompt engineering alone was impossible with large datasets.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412831" y="5730121"/>
            <a:ext cx="6085284" cy="1797844"/>
          </a:xfrm>
          <a:prstGeom prst="roundRect">
            <a:avLst>
              <a:gd name="adj" fmla="val 6103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9971" y="5730121"/>
            <a:ext cx="91440" cy="17978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99772" y="5948482"/>
            <a:ext cx="315420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Performance Bottlenecks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7699772" y="6371273"/>
            <a:ext cx="5579983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sheer volume of data processed significantly impacted system speed, necessitating further optimization.</a:t>
            </a:r>
            <a:endParaRPr lang="en-US" sz="1500" dirty="0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3ECF8E3-FAEF-AACE-9C63-C3A38E476FE5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FF89426E-2FD6-D0E2-2D97-70E986FCE1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237"/>
    </mc:Choice>
    <mc:Fallback xmlns="">
      <p:transition spd="slow" advTm="652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2173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16775" y="2651284"/>
            <a:ext cx="7380923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 Improvements &amp; Roadmap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89" y="3713897"/>
            <a:ext cx="6646011" cy="14037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6520" y="4608014"/>
            <a:ext cx="2541659" cy="33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3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Multi-Modal Input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96521" y="4918952"/>
            <a:ext cx="5922275" cy="68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Incorporate video resumes, LinkedIn profiles, and coding samples for richer candidate insights.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832" y="3210716"/>
            <a:ext cx="6646011" cy="14037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40664" y="4104833"/>
            <a:ext cx="4018503" cy="33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3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Advanced Agent Collaboration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940664" y="4415771"/>
            <a:ext cx="5922275" cy="68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Expand multi-agent LLM collaboration for deeper skill and personality assessments.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89" y="5949771"/>
            <a:ext cx="6646011" cy="14037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6521" y="6843888"/>
            <a:ext cx="3197508" cy="33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3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Dynamic Market Insights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596521" y="7154827"/>
            <a:ext cx="5922275" cy="68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Integrate real-time labor market data for dynamic job requirement updates and trend analysis.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832" y="5446591"/>
            <a:ext cx="6646011" cy="140374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40664" y="6340708"/>
            <a:ext cx="3923676" cy="33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3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Explainability Dashboards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940664" y="6651646"/>
            <a:ext cx="5922275" cy="68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Develop intuitive explainability dashboards with comprehensive candidate and job insights for users.</a:t>
            </a:r>
            <a:endParaRPr lang="en-US" sz="1600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BEDB4E3-5543-3779-FC78-6C6526860CE4}"/>
              </a:ext>
            </a:extLst>
          </p:cNvPr>
          <p:cNvSpPr/>
          <p:nvPr/>
        </p:nvSpPr>
        <p:spPr>
          <a:xfrm>
            <a:off x="12886944" y="7752778"/>
            <a:ext cx="1645920" cy="36290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31960F9C-3260-0AE9-AC9D-E6D517E130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273"/>
    </mc:Choice>
    <mc:Fallback xmlns="">
      <p:transition spd="slow" advTm="682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569" y="587216"/>
            <a:ext cx="7652861" cy="1997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Conclusion: Transforming Hiring with AI-Powered Matching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45569" y="2903696"/>
            <a:ext cx="7652861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LLM-based system effectively bridges the critical gap between recruiting at scale and maintaining high-quality talent acquisition.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45569" y="3824764"/>
            <a:ext cx="7652861" cy="3817620"/>
          </a:xfrm>
          <a:prstGeom prst="roundRect">
            <a:avLst>
              <a:gd name="adj" fmla="val 837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45569" y="3824764"/>
            <a:ext cx="3826431" cy="2249567"/>
          </a:xfrm>
          <a:prstGeom prst="roundRect">
            <a:avLst>
              <a:gd name="adj" fmla="val 1420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958572" y="4037767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Scale &amp; Quality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58572" y="4498300"/>
            <a:ext cx="3400425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system enables a significant improvement in both the volume and precision of candidate matching.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572000" y="3824764"/>
            <a:ext cx="3826431" cy="2249567"/>
          </a:xfrm>
          <a:prstGeom prst="rect">
            <a:avLst/>
          </a:prstGeom>
          <a:solidFill>
            <a:srgbClr val="262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72000" y="3824764"/>
            <a:ext cx="22860" cy="2249567"/>
          </a:xfrm>
          <a:prstGeom prst="roundRect">
            <a:avLst>
              <a:gd name="adj" fmla="val 139778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785003" y="4037767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Fairer Process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4785003" y="4498300"/>
            <a:ext cx="3400425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By reducing human bias, we foster a more equitable and inclusive recruitment environment.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5569" y="6074331"/>
            <a:ext cx="7652861" cy="1568053"/>
          </a:xfrm>
          <a:prstGeom prst="rect">
            <a:avLst/>
          </a:prstGeom>
          <a:solidFill>
            <a:srgbClr val="262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745569" y="6074331"/>
            <a:ext cx="7652861" cy="22860"/>
          </a:xfrm>
          <a:prstGeom prst="roundRect">
            <a:avLst>
              <a:gd name="adj" fmla="val 139778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958572" y="6287333"/>
            <a:ext cx="3402687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Explainability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958572" y="6747867"/>
            <a:ext cx="7226856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explanation allows for a better insight into the potential reason as to why a rejection was made.</a:t>
            </a:r>
            <a:endParaRPr lang="en-US" sz="1650" dirty="0"/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9426363A-0C57-53B8-C3DE-86DDC65157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400"/>
    </mc:Choice>
    <mc:Fallback xmlns="">
      <p:transition spd="slow" advTm="83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0099"/>
            <a:ext cx="5670590" cy="1414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Live demonstration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of the app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chemeClr val="bg1"/>
                </a:solidFill>
                <a:hlinkClick r:id="rId6"/>
              </a:rPr>
              <a:t>https://youtu.be/WF9D-Tiwn_Y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FF1F857B-E4C3-8615-DF2A-AB4BD79DBC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3290" t="-203290" r="-203290" b="-20329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76"/>
    </mc:Choice>
    <mc:Fallback xmlns="">
      <p:transition spd="slow" advTm="351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761</Words>
  <Application>Microsoft Office PowerPoint</Application>
  <PresentationFormat>Personnalisé</PresentationFormat>
  <Paragraphs>121</Paragraphs>
  <Slides>13</Slides>
  <Notes>13</Notes>
  <HiddenSlides>0</HiddenSlides>
  <MMClips>13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Noto Sans TC</vt:lpstr>
      <vt:lpstr>Arial</vt:lpstr>
      <vt:lpstr>Sora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Sebastien</dc:creator>
  <cp:lastModifiedBy>LEVESQUE Sébastien</cp:lastModifiedBy>
  <cp:revision>6</cp:revision>
  <dcterms:created xsi:type="dcterms:W3CDTF">2026-01-21T18:53:25Z</dcterms:created>
  <dcterms:modified xsi:type="dcterms:W3CDTF">2026-01-23T16:45:01Z</dcterms:modified>
</cp:coreProperties>
</file>